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66" autoAdjust="0"/>
    <p:restoredTop sz="94660"/>
  </p:normalViewPr>
  <p:slideViewPr>
    <p:cSldViewPr snapToGrid="0">
      <p:cViewPr varScale="1">
        <p:scale>
          <a:sx n="82" d="100"/>
          <a:sy n="82" d="100"/>
        </p:scale>
        <p:origin x="108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2CCB4-4850-4E57-97D5-3F7D656E2621}" type="datetimeFigureOut">
              <a:rPr lang="en-US" smtClean="0"/>
              <a:t>7/19/2019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C1E3D-9EAC-4CE5-A40D-3FD421C7F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564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2CCB4-4850-4E57-97D5-3F7D656E2621}" type="datetimeFigureOut">
              <a:rPr lang="en-US" smtClean="0"/>
              <a:t>7/19/2019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C1E3D-9EAC-4CE5-A40D-3FD421C7F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864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2CCB4-4850-4E57-97D5-3F7D656E2621}" type="datetimeFigureOut">
              <a:rPr lang="en-US" smtClean="0"/>
              <a:t>7/19/2019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C1E3D-9EAC-4CE5-A40D-3FD421C7F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023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2CCB4-4850-4E57-97D5-3F7D656E2621}" type="datetimeFigureOut">
              <a:rPr lang="en-US" smtClean="0"/>
              <a:t>7/19/2019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C1E3D-9EAC-4CE5-A40D-3FD421C7F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447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2CCB4-4850-4E57-97D5-3F7D656E2621}" type="datetimeFigureOut">
              <a:rPr lang="en-US" smtClean="0"/>
              <a:t>7/19/2019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C1E3D-9EAC-4CE5-A40D-3FD421C7F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554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2CCB4-4850-4E57-97D5-3F7D656E2621}" type="datetimeFigureOut">
              <a:rPr lang="en-US" smtClean="0"/>
              <a:t>7/19/2019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C1E3D-9EAC-4CE5-A40D-3FD421C7F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734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2CCB4-4850-4E57-97D5-3F7D656E2621}" type="datetimeFigureOut">
              <a:rPr lang="en-US" smtClean="0"/>
              <a:t>7/19/2019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C1E3D-9EAC-4CE5-A40D-3FD421C7F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67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2CCB4-4850-4E57-97D5-3F7D656E2621}" type="datetimeFigureOut">
              <a:rPr lang="en-US" smtClean="0"/>
              <a:t>7/19/2019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C1E3D-9EAC-4CE5-A40D-3FD421C7F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202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2CCB4-4850-4E57-97D5-3F7D656E2621}" type="datetimeFigureOut">
              <a:rPr lang="en-US" smtClean="0"/>
              <a:t>7/19/2019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C1E3D-9EAC-4CE5-A40D-3FD421C7F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40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2CCB4-4850-4E57-97D5-3F7D656E2621}" type="datetimeFigureOut">
              <a:rPr lang="en-US" smtClean="0"/>
              <a:t>7/19/2019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C1E3D-9EAC-4CE5-A40D-3FD421C7F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894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2CCB4-4850-4E57-97D5-3F7D656E2621}" type="datetimeFigureOut">
              <a:rPr lang="en-US" smtClean="0"/>
              <a:t>7/19/2019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C1E3D-9EAC-4CE5-A40D-3FD421C7F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909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B2CCB4-4850-4E57-97D5-3F7D656E2621}" type="datetimeFigureOut">
              <a:rPr lang="en-US" smtClean="0"/>
              <a:t>7/19/2019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5C1E3D-9EAC-4CE5-A40D-3FD421C7F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817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5845123"/>
              </p:ext>
            </p:extLst>
          </p:nvPr>
        </p:nvGraphicFramePr>
        <p:xfrm>
          <a:off x="83673" y="62527"/>
          <a:ext cx="12024655" cy="4795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579000829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141426496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90749784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845387839"/>
                    </a:ext>
                  </a:extLst>
                </a:gridCol>
                <a:gridCol w="686095">
                  <a:extLst>
                    <a:ext uri="{9D8B030D-6E8A-4147-A177-3AD203B41FA5}">
                      <a16:colId xmlns:a16="http://schemas.microsoft.com/office/drawing/2014/main" val="3723326348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1983393679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808875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area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vacuum chamber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 smtClean="0"/>
                        <a:t>MARKer</a:t>
                      </a:r>
                      <a:r>
                        <a:rPr lang="en-US" sz="1200" baseline="0" dirty="0" smtClean="0"/>
                        <a:t> names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length</a:t>
                      </a:r>
                      <a:r>
                        <a:rPr lang="en-US" sz="1200" baseline="0" dirty="0" smtClean="0"/>
                        <a:t> (m)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path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 smtClean="0"/>
                        <a:t>wakefield</a:t>
                      </a:r>
                      <a:endParaRPr lang="en-US" sz="1200" dirty="0" smtClean="0"/>
                    </a:p>
                    <a:p>
                      <a:pPr algn="ctr"/>
                      <a:r>
                        <a:rPr lang="en-US" sz="1200" dirty="0" err="1" smtClean="0"/>
                        <a:t>MARKer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wakefield</a:t>
                      </a:r>
                      <a:r>
                        <a:rPr lang="en-US" sz="1200" dirty="0" smtClean="0"/>
                        <a:t> file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5115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EXT</a:t>
                      </a:r>
                    </a:p>
                    <a:p>
                      <a:r>
                        <a:rPr lang="en-US" sz="1200" dirty="0" smtClean="0"/>
                        <a:t>DOG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1.75” O.D., 0.065” wall, 304SS,</a:t>
                      </a:r>
                      <a:r>
                        <a:rPr lang="en-US" sz="1200" baseline="0" dirty="0" smtClean="0"/>
                        <a:t> </a:t>
                      </a:r>
                      <a:r>
                        <a:rPr lang="en-US" sz="1200" dirty="0" smtClean="0"/>
                        <a:t>R=20.6 </a:t>
                      </a:r>
                      <a:r>
                        <a:rPr lang="en-US" sz="1200" dirty="0" smtClean="0"/>
                        <a:t>mm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2.0” O.D., 0.065” wall, 304SS,</a:t>
                      </a:r>
                      <a:r>
                        <a:rPr lang="en-US" sz="1200" baseline="0" dirty="0" smtClean="0"/>
                        <a:t> </a:t>
                      </a:r>
                      <a:r>
                        <a:rPr lang="en-US" sz="1200" dirty="0" smtClean="0"/>
                        <a:t>R=23.8 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BLFD</a:t>
                      </a:r>
                      <a:r>
                        <a:rPr lang="en-US" sz="1200" baseline="0" dirty="0" smtClean="0"/>
                        <a:t> to BEGBD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BEGBD to ENDBD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27.5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78.0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 smtClean="0"/>
                        <a:t>scH,S,D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RWWAKE1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SS_24.5mmR_100nm3mm.sdds (FACTOR=105.6)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2617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BYP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2.0” O.D., 0.035” wall, 304SS,</a:t>
                      </a:r>
                      <a:r>
                        <a:rPr lang="en-US" sz="1200" baseline="0" dirty="0" smtClean="0"/>
                        <a:t> </a:t>
                      </a:r>
                      <a:r>
                        <a:rPr lang="en-US" sz="1200" dirty="0" smtClean="0"/>
                        <a:t>R=24.5 mm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ENDBD to </a:t>
                      </a:r>
                      <a:r>
                        <a:rPr lang="en-US" sz="1200" dirty="0" smtClean="0"/>
                        <a:t>ENDBYP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2035.2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 smtClean="0"/>
                        <a:t>scH,S,D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RWWAKE2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SS_24.5mmR_100nm3mm.sdds (</a:t>
                      </a:r>
                      <a:r>
                        <a:rPr lang="en-US" sz="1200" dirty="0" smtClean="0"/>
                        <a:t>FACTOR=2035.2)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9447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SPH/SLTH/BSYH</a:t>
                      </a:r>
                    </a:p>
                    <a:p>
                      <a:r>
                        <a:rPr lang="en-US" sz="1200" dirty="0" smtClean="0"/>
                        <a:t>CLTH/BSYH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2.0” O.D., 0.063” wall, 304SS,</a:t>
                      </a:r>
                      <a:r>
                        <a:rPr lang="en-US" sz="1200" baseline="0" dirty="0" smtClean="0"/>
                        <a:t> </a:t>
                      </a:r>
                      <a:r>
                        <a:rPr lang="en-US" sz="1200" dirty="0" smtClean="0"/>
                        <a:t>R=23.8 </a:t>
                      </a:r>
                      <a:r>
                        <a:rPr lang="en-US" sz="1200" dirty="0" smtClean="0"/>
                        <a:t>mm</a:t>
                      </a:r>
                    </a:p>
                    <a:p>
                      <a:r>
                        <a:rPr lang="en-US" sz="1200" dirty="0" smtClean="0"/>
                        <a:t>2.0” O.D., 0.035” wall, 304SS,</a:t>
                      </a:r>
                      <a:r>
                        <a:rPr lang="en-US" sz="1200" baseline="0" dirty="0" smtClean="0"/>
                        <a:t> </a:t>
                      </a:r>
                      <a:r>
                        <a:rPr lang="en-US" sz="1200" dirty="0" smtClean="0"/>
                        <a:t>R=24.5 mm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BEGSPH </a:t>
                      </a:r>
                      <a:r>
                        <a:rPr lang="en-US" sz="1200" dirty="0" smtClean="0"/>
                        <a:t>to </a:t>
                      </a:r>
                      <a:r>
                        <a:rPr lang="en-US" sz="1200" dirty="0" smtClean="0"/>
                        <a:t>ENDBSYH_2</a:t>
                      </a:r>
                    </a:p>
                    <a:p>
                      <a:pPr algn="ctr"/>
                      <a:r>
                        <a:rPr lang="en-US" sz="1200" dirty="0" smtClean="0"/>
                        <a:t>ENDL3 to ENDBSYH_2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443.7</a:t>
                      </a:r>
                    </a:p>
                    <a:p>
                      <a:pPr marL="0" algn="ctr" defTabSz="914400" rtl="0" eaLnBrk="1" latinLnBrk="0" hangingPunct="1"/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182.0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scH</a:t>
                      </a:r>
                      <a:endParaRPr lang="en-US" sz="12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sz="12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cuH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RWWAKE3H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SS_24.5mmR_100nm3mm.sdds (FACTOR=443.7)</a:t>
                      </a:r>
                    </a:p>
                    <a:p>
                      <a:r>
                        <a:rPr lang="en-US" sz="1200" dirty="0" smtClean="0"/>
                        <a:t>SS_24.5mmR_100nm3mm.sdds (FACTOR=182.0)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4277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LTUH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1.5” O.D., 0.065” wall, 304SS, Cu plated, R=17.4 mm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BEGLTUH to </a:t>
                      </a:r>
                      <a:r>
                        <a:rPr lang="en-US" sz="1200" dirty="0" smtClean="0"/>
                        <a:t>ENDLTUH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339.1</a:t>
                      </a:r>
                      <a:endParaRPr lang="en-US" sz="1200" baseline="30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 smtClean="0"/>
                        <a:t>scH,cuH</a:t>
                      </a:r>
                      <a:endParaRPr lang="en-US" sz="12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RWWAKE4H</a:t>
                      </a:r>
                      <a:endParaRPr lang="en-US" sz="12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Cu_17.4mmR_100nm_3mm (FACTOR=339.1)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6289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HXR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undulator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HXRSTART</a:t>
                      </a:r>
                      <a:r>
                        <a:rPr lang="en-US" sz="1200" baseline="0" dirty="0" smtClean="0"/>
                        <a:t> to HXRTERM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152.5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 smtClean="0"/>
                        <a:t>scH,cuH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RWWAKE5H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Al5mmgap_flat_0p5um10mm (FACTOR=130.0)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5270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CLTH/BSYH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2.0” O.D., 0.035” wall, 304SS,</a:t>
                      </a:r>
                      <a:r>
                        <a:rPr lang="en-US" sz="1200" baseline="0" dirty="0" smtClean="0"/>
                        <a:t> </a:t>
                      </a:r>
                      <a:r>
                        <a:rPr lang="en-US" sz="1200" dirty="0" smtClean="0"/>
                        <a:t>R=24.5 mm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ENDL3 to BEGBSYA_1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75.4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 smtClean="0"/>
                        <a:t>cuA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RWWAKE3A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SS_24.5mmR_100nm3mm.sdds (FACTOR=75.4)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2215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SPS/SLTS/BSYS</a:t>
                      </a:r>
                    </a:p>
                    <a:p>
                      <a:r>
                        <a:rPr lang="en-US" sz="1200" dirty="0" smtClean="0"/>
                        <a:t>CLTH/CLTS/BSYS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2.0” O.D., 0.063” wall, 304SS,</a:t>
                      </a:r>
                      <a:r>
                        <a:rPr lang="en-US" sz="1200" baseline="0" dirty="0" smtClean="0"/>
                        <a:t> </a:t>
                      </a:r>
                      <a:r>
                        <a:rPr lang="en-US" sz="1200" dirty="0" smtClean="0"/>
                        <a:t>R=23.8 </a:t>
                      </a:r>
                      <a:r>
                        <a:rPr lang="en-US" sz="1200" dirty="0" smtClean="0"/>
                        <a:t>mm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2.0” O.D., 0.035” wall, 304SS,</a:t>
                      </a:r>
                      <a:r>
                        <a:rPr lang="en-US" sz="1200" baseline="0" dirty="0" smtClean="0"/>
                        <a:t> </a:t>
                      </a:r>
                      <a:r>
                        <a:rPr lang="en-US" sz="1200" dirty="0" smtClean="0"/>
                        <a:t>R=24.5 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BEGSPD_1 to</a:t>
                      </a:r>
                      <a:r>
                        <a:rPr lang="en-US" sz="1200" baseline="0" dirty="0" smtClean="0"/>
                        <a:t> ENDBSYS</a:t>
                      </a:r>
                      <a:endParaRPr lang="en-US" sz="1200" dirty="0" smtClean="0"/>
                    </a:p>
                    <a:p>
                      <a:pPr algn="ctr"/>
                      <a:r>
                        <a:rPr lang="en-US" sz="1200" dirty="0" smtClean="0"/>
                        <a:t>ENDL3 to ENDBSYS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443.8</a:t>
                      </a:r>
                    </a:p>
                    <a:p>
                      <a:pPr algn="ctr"/>
                      <a:r>
                        <a:rPr lang="en-US" sz="1200" baseline="0" dirty="0" smtClean="0"/>
                        <a:t>182.0</a:t>
                      </a:r>
                      <a:endParaRPr lang="en-US" sz="1200" baseline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 smtClean="0"/>
                        <a:t>scS</a:t>
                      </a:r>
                      <a:endParaRPr lang="en-US" sz="1200" dirty="0" smtClean="0"/>
                    </a:p>
                    <a:p>
                      <a:pPr algn="ctr"/>
                      <a:r>
                        <a:rPr lang="en-US" sz="1200" dirty="0" err="1" smtClean="0"/>
                        <a:t>cuS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RWWAKE3S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SS_24.5mmR_100nm3mm.sdds </a:t>
                      </a:r>
                      <a:r>
                        <a:rPr lang="en-US" sz="1200" dirty="0" smtClean="0"/>
                        <a:t>(FACTOR=443.8</a:t>
                      </a:r>
                      <a:r>
                        <a:rPr lang="en-US" sz="1200" dirty="0" smtClean="0"/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SS_24.5mmR_100nm3mm.sdds (FACTOR=182.0)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5249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LTUS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1.5” O.D., 0.065” wall, 304SS, Cu plated, R=17.4 mm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BEGLTUS to </a:t>
                      </a:r>
                      <a:r>
                        <a:rPr lang="en-US" sz="1200" dirty="0" smtClean="0"/>
                        <a:t>ENDLTUS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341.8</a:t>
                      </a:r>
                      <a:endParaRPr lang="en-US" sz="1200" baseline="30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 smtClean="0"/>
                        <a:t>scS,cuS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RWWAKE4S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SS_24.5mmR_100nm3mm.sdds </a:t>
                      </a:r>
                      <a:r>
                        <a:rPr lang="en-US" sz="1200" dirty="0" smtClean="0"/>
                        <a:t>(FACTOR=341.8</a:t>
                      </a:r>
                      <a:r>
                        <a:rPr lang="en-US" sz="1200" dirty="0" smtClean="0"/>
                        <a:t>)</a:t>
                      </a:r>
                      <a:endParaRPr lang="en-US" sz="1200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6168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SXX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2.5” O.D., 0.065” wall, 316SS,</a:t>
                      </a:r>
                      <a:r>
                        <a:rPr lang="en-US" sz="1200" baseline="0" dirty="0" smtClean="0"/>
                        <a:t> </a:t>
                      </a:r>
                      <a:r>
                        <a:rPr lang="en-US" sz="1200" dirty="0" smtClean="0"/>
                        <a:t>R=30.1 mm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SXXSTART to </a:t>
                      </a:r>
                      <a:r>
                        <a:rPr lang="en-US" sz="1200" dirty="0" smtClean="0"/>
                        <a:t>SXXTERM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41.8</a:t>
                      </a:r>
                      <a:endParaRPr lang="en-US" sz="1200" baseline="30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 smtClean="0"/>
                        <a:t>scS,cuS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no </a:t>
                      </a:r>
                      <a:r>
                        <a:rPr lang="en-US" sz="1200" dirty="0" err="1" smtClean="0"/>
                        <a:t>wakefield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2517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SXR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undulator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SXRSTART </a:t>
                      </a:r>
                      <a:r>
                        <a:rPr lang="en-US" sz="1200" dirty="0" smtClean="0"/>
                        <a:t>to </a:t>
                      </a:r>
                      <a:r>
                        <a:rPr lang="en-US" sz="1200" dirty="0" smtClean="0"/>
                        <a:t>SXRTERM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aseline="0" dirty="0" smtClean="0"/>
                        <a:t>110.0</a:t>
                      </a:r>
                      <a:endParaRPr lang="en-US" sz="1200" baseline="30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 smtClean="0"/>
                        <a:t>scS,cuS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RWWAKE5S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Al5mmgap_flat_0p5um10mm (FACTOR=100.0)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4217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SPD/SLTD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2.0” O.D., 0.063” wall, 304SS,</a:t>
                      </a:r>
                      <a:r>
                        <a:rPr lang="en-US" sz="1200" baseline="0" dirty="0" smtClean="0"/>
                        <a:t> </a:t>
                      </a:r>
                      <a:r>
                        <a:rPr lang="en-US" sz="1200" dirty="0" smtClean="0"/>
                        <a:t>R=23.8 mm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BEGSPD_1 </a:t>
                      </a:r>
                      <a:r>
                        <a:rPr lang="en-US" sz="1200" dirty="0" smtClean="0"/>
                        <a:t>to </a:t>
                      </a:r>
                      <a:r>
                        <a:rPr lang="en-US" sz="1200" dirty="0" smtClean="0"/>
                        <a:t>BKXRASD</a:t>
                      </a:r>
                      <a:endParaRPr lang="en-US" sz="12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368.3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 smtClean="0"/>
                        <a:t>scD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RWWAKE3D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SS_24.5mmR_100nm3mm.sdds (FACTOR=368.3)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1046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7919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7635</TotalTime>
  <Words>309</Words>
  <Application>Microsoft Office PowerPoint</Application>
  <PresentationFormat>Widescreen</PresentationFormat>
  <Paragraphs>100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SLAC National Accelerator Laboratory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Woodley, Mark D.</dc:creator>
  <cp:lastModifiedBy>Woodley, Mark D.</cp:lastModifiedBy>
  <cp:revision>29</cp:revision>
  <cp:lastPrinted>2019-07-19T19:55:00Z</cp:lastPrinted>
  <dcterms:created xsi:type="dcterms:W3CDTF">2019-07-19T14:56:35Z</dcterms:created>
  <dcterms:modified xsi:type="dcterms:W3CDTF">2019-07-24T22:15:40Z</dcterms:modified>
</cp:coreProperties>
</file>